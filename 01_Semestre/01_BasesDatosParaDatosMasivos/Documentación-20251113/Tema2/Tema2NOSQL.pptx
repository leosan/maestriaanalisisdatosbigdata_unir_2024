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18"/>
  </p:notesMasterIdLst>
  <p:sldIdLst>
    <p:sldId id="530" r:id="rId2"/>
    <p:sldId id="539" r:id="rId3"/>
    <p:sldId id="540" r:id="rId4"/>
    <p:sldId id="541" r:id="rId5"/>
    <p:sldId id="542" r:id="rId6"/>
    <p:sldId id="543" r:id="rId7"/>
    <p:sldId id="545" r:id="rId8"/>
    <p:sldId id="544" r:id="rId9"/>
    <p:sldId id="531" r:id="rId10"/>
    <p:sldId id="532" r:id="rId11"/>
    <p:sldId id="533" r:id="rId12"/>
    <p:sldId id="534" r:id="rId13"/>
    <p:sldId id="535" r:id="rId14"/>
    <p:sldId id="537" r:id="rId15"/>
    <p:sldId id="536" r:id="rId16"/>
    <p:sldId id="538"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7" userDrawn="1">
          <p15:clr>
            <a:srgbClr val="A4A3A4"/>
          </p15:clr>
        </p15:guide>
        <p15:guide id="2" pos="32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70" d="100"/>
          <a:sy n="70" d="100"/>
        </p:scale>
        <p:origin x="536" y="48"/>
      </p:cViewPr>
      <p:guideLst>
        <p:guide orient="horz" pos="777"/>
        <p:guide pos="325"/>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7BDBFB-3BBF-4D54-8B8A-E894F0C71500}" type="datetimeFigureOut">
              <a:rPr lang="es-MX" smtClean="0"/>
              <a:t>12/04/2024</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ADF36-B444-41C5-A2D8-202546BBAA14}" type="slidenum">
              <a:rPr lang="es-MX" smtClean="0"/>
              <a:t>‹Nº›</a:t>
            </a:fld>
            <a:endParaRPr lang="es-MX"/>
          </a:p>
        </p:txBody>
      </p:sp>
    </p:spTree>
    <p:extLst>
      <p:ext uri="{BB962C8B-B14F-4D97-AF65-F5344CB8AC3E}">
        <p14:creationId xmlns:p14="http://schemas.microsoft.com/office/powerpoint/2010/main" val="2313888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52C4AE-12D0-8902-0F95-08D9106F740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B0F68B9-D5EA-0DB2-0CB3-A0420273AA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4A97FF12-6977-BCB0-8986-0292E54404B8}"/>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5" name="Marcador de pie de página 4">
            <a:extLst>
              <a:ext uri="{FF2B5EF4-FFF2-40B4-BE49-F238E27FC236}">
                <a16:creationId xmlns:a16="http://schemas.microsoft.com/office/drawing/2014/main" id="{9827DA71-40E2-8564-B599-202CC0762D58}"/>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8520DC1A-C83E-59F7-E631-A20AB9039239}"/>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2635011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E4E7F5-B30E-4D8D-DA58-AC23B258957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D6B3FF1-772F-F1A3-4FE5-D866E252421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D9F527E-2B0A-C65F-D733-7C51979276C9}"/>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5" name="Marcador de pie de página 4">
            <a:extLst>
              <a:ext uri="{FF2B5EF4-FFF2-40B4-BE49-F238E27FC236}">
                <a16:creationId xmlns:a16="http://schemas.microsoft.com/office/drawing/2014/main" id="{170E6499-8E4F-E6CB-0732-6925CAC54DB5}"/>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84E5F2A7-594C-1D18-D044-928F390E6FD3}"/>
              </a:ext>
            </a:extLst>
          </p:cNvPr>
          <p:cNvSpPr>
            <a:spLocks noGrp="1"/>
          </p:cNvSpPr>
          <p:nvPr>
            <p:ph type="sldNum" sz="quarter" idx="12"/>
          </p:nvPr>
        </p:nvSpPr>
        <p:spPr/>
        <p:txBody>
          <a:bodyPr/>
          <a:lstStyle/>
          <a:p>
            <a:r>
              <a:rPr lang="es-ES"/>
              <a:t>From the desk of B. J. Ferro</a:t>
            </a:r>
            <a:endParaRPr lang="es-MX" dirty="0"/>
          </a:p>
        </p:txBody>
      </p:sp>
    </p:spTree>
    <p:extLst>
      <p:ext uri="{BB962C8B-B14F-4D97-AF65-F5344CB8AC3E}">
        <p14:creationId xmlns:p14="http://schemas.microsoft.com/office/powerpoint/2010/main" val="2678750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6FCD83-4F1E-12A7-54A8-7C35E2BB137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53A9530-9C01-D0F9-904A-E445436DDE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2E1A22E-10E0-4442-7B55-00C03AD06A8B}"/>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5" name="Marcador de pie de página 4">
            <a:extLst>
              <a:ext uri="{FF2B5EF4-FFF2-40B4-BE49-F238E27FC236}">
                <a16:creationId xmlns:a16="http://schemas.microsoft.com/office/drawing/2014/main" id="{1E574079-A393-4695-6AA7-07A9FDF21DD6}"/>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FA074C69-9344-4DE9-0395-FE4105B78592}"/>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177686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6F272F-6EA2-046D-61BE-4C9B9017F60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527153A-F010-0C7E-7A80-0238C7245A1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695EB8A6-3A05-4C8C-0BFD-4E6AA255DA5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02DF24F-C31F-8DC8-708E-0CD07CAEE4AF}"/>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6" name="Marcador de pie de página 5">
            <a:extLst>
              <a:ext uri="{FF2B5EF4-FFF2-40B4-BE49-F238E27FC236}">
                <a16:creationId xmlns:a16="http://schemas.microsoft.com/office/drawing/2014/main" id="{429CC851-DCC7-B70C-CC84-007231EEDD73}"/>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A6C3396A-6F30-FF72-2BE5-2897CC5BEDC2}"/>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2233360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2DB4F1-EBFD-CFD3-600D-9FD808BB34E7}"/>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C7BDED4-6D5C-A9CC-A1C2-ACCC7E23B9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9DCA7DE-BD51-0C64-ABC2-2E907788FCF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CBF26EA9-3FC2-AB5C-33F7-B8649BEF91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F4CC4DF-9C09-AD24-6931-8BC3C66F78B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7E61193-751F-C402-2945-3D7B5F422079}"/>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8" name="Marcador de pie de página 7">
            <a:extLst>
              <a:ext uri="{FF2B5EF4-FFF2-40B4-BE49-F238E27FC236}">
                <a16:creationId xmlns:a16="http://schemas.microsoft.com/office/drawing/2014/main" id="{CB8F10BB-B3DD-CB1F-0D39-8E7F9C664669}"/>
              </a:ext>
            </a:extLst>
          </p:cNvPr>
          <p:cNvSpPr>
            <a:spLocks noGrp="1"/>
          </p:cNvSpPr>
          <p:nvPr>
            <p:ph type="ftr" sz="quarter" idx="11"/>
          </p:nvPr>
        </p:nvSpPr>
        <p:spPr/>
        <p:txBody>
          <a:bodyPr/>
          <a:lstStyle/>
          <a:p>
            <a:endParaRPr lang="en-US" dirty="0"/>
          </a:p>
        </p:txBody>
      </p:sp>
      <p:sp>
        <p:nvSpPr>
          <p:cNvPr id="9" name="Marcador de número de diapositiva 8">
            <a:extLst>
              <a:ext uri="{FF2B5EF4-FFF2-40B4-BE49-F238E27FC236}">
                <a16:creationId xmlns:a16="http://schemas.microsoft.com/office/drawing/2014/main" id="{A317A6B3-E326-DAC6-81AE-DDB77EBF180D}"/>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3276481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0DC186-CCFB-E5AA-D5FC-5239FAFB475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3E56AA6-1CA9-6060-A9B5-52C6BE93DBB8}"/>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4" name="Marcador de pie de página 3">
            <a:extLst>
              <a:ext uri="{FF2B5EF4-FFF2-40B4-BE49-F238E27FC236}">
                <a16:creationId xmlns:a16="http://schemas.microsoft.com/office/drawing/2014/main" id="{FFC6B10A-2441-EF56-B189-1D9671F12B20}"/>
              </a:ext>
            </a:extLst>
          </p:cNvPr>
          <p:cNvSpPr>
            <a:spLocks noGrp="1"/>
          </p:cNvSpPr>
          <p:nvPr>
            <p:ph type="ftr" sz="quarter" idx="11"/>
          </p:nvPr>
        </p:nvSpPr>
        <p:spPr/>
        <p:txBody>
          <a:bodyPr/>
          <a:lstStyle/>
          <a:p>
            <a:endParaRPr lang="en-US" dirty="0"/>
          </a:p>
        </p:txBody>
      </p:sp>
      <p:sp>
        <p:nvSpPr>
          <p:cNvPr id="5" name="Marcador de número de diapositiva 4">
            <a:extLst>
              <a:ext uri="{FF2B5EF4-FFF2-40B4-BE49-F238E27FC236}">
                <a16:creationId xmlns:a16="http://schemas.microsoft.com/office/drawing/2014/main" id="{773B1BA3-7CC1-5E23-6FC9-D200A9F8FD0A}"/>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28416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5C1AE32-3F36-1698-6FDE-7EDD1BB3386D}"/>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3" name="Marcador de pie de página 2">
            <a:extLst>
              <a:ext uri="{FF2B5EF4-FFF2-40B4-BE49-F238E27FC236}">
                <a16:creationId xmlns:a16="http://schemas.microsoft.com/office/drawing/2014/main" id="{06960AB2-518B-85AD-3394-B0ABC541F57C}"/>
              </a:ext>
            </a:extLst>
          </p:cNvPr>
          <p:cNvSpPr>
            <a:spLocks noGrp="1"/>
          </p:cNvSpPr>
          <p:nvPr>
            <p:ph type="ftr" sz="quarter" idx="11"/>
          </p:nvPr>
        </p:nvSpPr>
        <p:spPr/>
        <p:txBody>
          <a:bodyPr/>
          <a:lstStyle/>
          <a:p>
            <a:endParaRPr lang="en-US" dirty="0"/>
          </a:p>
        </p:txBody>
      </p:sp>
      <p:sp>
        <p:nvSpPr>
          <p:cNvPr id="4" name="Marcador de número de diapositiva 3">
            <a:extLst>
              <a:ext uri="{FF2B5EF4-FFF2-40B4-BE49-F238E27FC236}">
                <a16:creationId xmlns:a16="http://schemas.microsoft.com/office/drawing/2014/main" id="{5AFC7A23-0311-D12D-B9CB-E7717E87DE94}"/>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1092106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AA3AD3-4E65-75DC-F2E5-082AFB78C0D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60FC758-50A0-73B1-2E5D-948685982A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DD2415B-5A99-290C-99AB-B496025D83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F209FE2-318B-DEF2-8BEC-5E6B376450C9}"/>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6" name="Marcador de pie de página 5">
            <a:extLst>
              <a:ext uri="{FF2B5EF4-FFF2-40B4-BE49-F238E27FC236}">
                <a16:creationId xmlns:a16="http://schemas.microsoft.com/office/drawing/2014/main" id="{BA3B03D4-38C2-8CF6-AD9C-3F509A7E51CE}"/>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691BE5E8-2E5D-DCB5-F7C9-91A8A4C44891}"/>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2680046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14051-1CA7-7667-A635-70502AFC480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A335E05-53D0-3D8B-D819-1435E113A8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64CD3DDC-F20D-CC49-5FC5-45432CF11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69F778F-F6A7-C749-7F26-B9D71DF80AB8}"/>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6" name="Marcador de pie de página 5">
            <a:extLst>
              <a:ext uri="{FF2B5EF4-FFF2-40B4-BE49-F238E27FC236}">
                <a16:creationId xmlns:a16="http://schemas.microsoft.com/office/drawing/2014/main" id="{E2B4380A-9292-6009-CA19-A18E11611E63}"/>
              </a:ext>
            </a:extLst>
          </p:cNvPr>
          <p:cNvSpPr>
            <a:spLocks noGrp="1"/>
          </p:cNvSpPr>
          <p:nvPr>
            <p:ph type="ftr" sz="quarter" idx="11"/>
          </p:nvPr>
        </p:nvSpPr>
        <p:spPr/>
        <p:txBody>
          <a:bodyPr/>
          <a:lstStyle/>
          <a:p>
            <a:endParaRPr lang="en-US" dirty="0"/>
          </a:p>
        </p:txBody>
      </p:sp>
      <p:sp>
        <p:nvSpPr>
          <p:cNvPr id="7" name="Marcador de número de diapositiva 6">
            <a:extLst>
              <a:ext uri="{FF2B5EF4-FFF2-40B4-BE49-F238E27FC236}">
                <a16:creationId xmlns:a16="http://schemas.microsoft.com/office/drawing/2014/main" id="{2E087726-10E1-0D2A-638E-7DD8E27F0B93}"/>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96377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EBE3C9-0630-3FA4-448E-189EC8A9B52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E5CA5FF-BE8B-3F42-EDC5-C5F33A1BF55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6AF6853-EF07-659C-8AEE-9AF531E03B57}"/>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5" name="Marcador de pie de página 4">
            <a:extLst>
              <a:ext uri="{FF2B5EF4-FFF2-40B4-BE49-F238E27FC236}">
                <a16:creationId xmlns:a16="http://schemas.microsoft.com/office/drawing/2014/main" id="{B97FB5F8-A17F-4294-0E0A-E6A5451AB81C}"/>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3BD271C3-5585-F531-1538-C9F2516EA38A}"/>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3591911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000FBEC-BD59-6272-B4BF-D7C9DD7DC4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1FBB6A5B-86BE-AA22-A058-39E9F379525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38E9A83-CFE8-A2D0-BD09-0AB167261EA0}"/>
              </a:ext>
            </a:extLst>
          </p:cNvPr>
          <p:cNvSpPr>
            <a:spLocks noGrp="1"/>
          </p:cNvSpPr>
          <p:nvPr>
            <p:ph type="dt" sz="half" idx="10"/>
          </p:nvPr>
        </p:nvSpPr>
        <p:spPr/>
        <p:txBody>
          <a:bodyPr/>
          <a:lstStyle/>
          <a:p>
            <a:fld id="{C764DE79-268F-4C1A-8933-263129D2AF90}" type="datetimeFigureOut">
              <a:rPr lang="en-US" smtClean="0"/>
              <a:t>4/12/2024</a:t>
            </a:fld>
            <a:endParaRPr lang="en-US" dirty="0"/>
          </a:p>
        </p:txBody>
      </p:sp>
      <p:sp>
        <p:nvSpPr>
          <p:cNvPr id="5" name="Marcador de pie de página 4">
            <a:extLst>
              <a:ext uri="{FF2B5EF4-FFF2-40B4-BE49-F238E27FC236}">
                <a16:creationId xmlns:a16="http://schemas.microsoft.com/office/drawing/2014/main" id="{B38094B3-6682-9D5B-5765-33B8D68B4879}"/>
              </a:ext>
            </a:extLst>
          </p:cNvPr>
          <p:cNvSpPr>
            <a:spLocks noGrp="1"/>
          </p:cNvSpPr>
          <p:nvPr>
            <p:ph type="ftr" sz="quarter" idx="11"/>
          </p:nvPr>
        </p:nvSpPr>
        <p:spPr/>
        <p:txBody>
          <a:bodyPr/>
          <a:lstStyle/>
          <a:p>
            <a:endParaRPr lang="en-US" dirty="0"/>
          </a:p>
        </p:txBody>
      </p:sp>
      <p:sp>
        <p:nvSpPr>
          <p:cNvPr id="6" name="Marcador de número de diapositiva 5">
            <a:extLst>
              <a:ext uri="{FF2B5EF4-FFF2-40B4-BE49-F238E27FC236}">
                <a16:creationId xmlns:a16="http://schemas.microsoft.com/office/drawing/2014/main" id="{E5EF11C9-4002-C69E-6BB7-7BEDE985AEA0}"/>
              </a:ext>
            </a:extLst>
          </p:cNvPr>
          <p:cNvSpPr>
            <a:spLocks noGrp="1"/>
          </p:cNvSpPr>
          <p:nvPr>
            <p:ph type="sldNum" sz="quarter" idx="12"/>
          </p:nvPr>
        </p:nvSpPr>
        <p:spPr/>
        <p:txBody>
          <a:bodyPr/>
          <a:lstStyle/>
          <a:p>
            <a:fld id="{4596DC79-FCCD-484A-B196-1A903E17E106}" type="slidenum">
              <a:rPr lang="es-MX" smtClean="0"/>
              <a:pPr/>
              <a:t>‹Nº›</a:t>
            </a:fld>
            <a:endParaRPr lang="es-MX" dirty="0"/>
          </a:p>
        </p:txBody>
      </p:sp>
    </p:spTree>
    <p:extLst>
      <p:ext uri="{BB962C8B-B14F-4D97-AF65-F5344CB8AC3E}">
        <p14:creationId xmlns:p14="http://schemas.microsoft.com/office/powerpoint/2010/main" val="3715964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5A43C12-9F86-ECF0-696E-F129FC6245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D35C011-BC11-2B34-479F-A973E3A494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4984152-852B-F374-4659-96B69B9E36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4/12/2024</a:t>
            </a:fld>
            <a:endParaRPr lang="en-US" dirty="0"/>
          </a:p>
        </p:txBody>
      </p:sp>
      <p:sp>
        <p:nvSpPr>
          <p:cNvPr id="5" name="Marcador de pie de página 4">
            <a:extLst>
              <a:ext uri="{FF2B5EF4-FFF2-40B4-BE49-F238E27FC236}">
                <a16:creationId xmlns:a16="http://schemas.microsoft.com/office/drawing/2014/main" id="{8B657802-4A26-478A-29BA-9998175D68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Marcador de número de diapositiva 5">
            <a:extLst>
              <a:ext uri="{FF2B5EF4-FFF2-40B4-BE49-F238E27FC236}">
                <a16:creationId xmlns:a16="http://schemas.microsoft.com/office/drawing/2014/main" id="{F30FC444-17DB-673F-6A1E-1F11B79976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96DC79-FCCD-484A-B196-1A903E17E106}" type="slidenum">
              <a:rPr lang="es-MX" smtClean="0"/>
              <a:pPr/>
              <a:t>‹Nº›</a:t>
            </a:fld>
            <a:endParaRPr lang="es-MX" dirty="0"/>
          </a:p>
        </p:txBody>
      </p:sp>
      <p:grpSp>
        <p:nvGrpSpPr>
          <p:cNvPr id="7" name="Group 18">
            <a:extLst>
              <a:ext uri="{FF2B5EF4-FFF2-40B4-BE49-F238E27FC236}">
                <a16:creationId xmlns:a16="http://schemas.microsoft.com/office/drawing/2014/main" id="{D014BE77-8C10-27E1-689B-3BFCF23177C2}"/>
              </a:ext>
            </a:extLst>
          </p:cNvPr>
          <p:cNvGrpSpPr/>
          <p:nvPr userDrawn="1"/>
        </p:nvGrpSpPr>
        <p:grpSpPr>
          <a:xfrm>
            <a:off x="0" y="6402388"/>
            <a:ext cx="12192000" cy="463550"/>
            <a:chOff x="0" y="6402388"/>
            <a:chExt cx="12192000" cy="463550"/>
          </a:xfrm>
        </p:grpSpPr>
        <p:grpSp>
          <p:nvGrpSpPr>
            <p:cNvPr id="8" name="Group 1">
              <a:extLst>
                <a:ext uri="{FF2B5EF4-FFF2-40B4-BE49-F238E27FC236}">
                  <a16:creationId xmlns:a16="http://schemas.microsoft.com/office/drawing/2014/main" id="{9CED5E13-7F1D-5A9E-4D4D-47E63CA986A9}"/>
                </a:ext>
              </a:extLst>
            </p:cNvPr>
            <p:cNvGrpSpPr>
              <a:grpSpLocks/>
            </p:cNvGrpSpPr>
            <p:nvPr userDrawn="1"/>
          </p:nvGrpSpPr>
          <p:grpSpPr bwMode="auto">
            <a:xfrm>
              <a:off x="3041650" y="6402388"/>
              <a:ext cx="9150350" cy="463550"/>
              <a:chOff x="0" y="11877"/>
              <a:chExt cx="9151698" cy="464252"/>
            </a:xfrm>
          </p:grpSpPr>
          <p:sp>
            <p:nvSpPr>
              <p:cNvPr id="13" name="Rectangle 2">
                <a:extLst>
                  <a:ext uri="{FF2B5EF4-FFF2-40B4-BE49-F238E27FC236}">
                    <a16:creationId xmlns:a16="http://schemas.microsoft.com/office/drawing/2014/main" id="{F0FBEAEA-F4C2-37E0-32E0-D04F5008C865}"/>
                  </a:ext>
                </a:extLst>
              </p:cNvPr>
              <p:cNvSpPr>
                <a:spLocks/>
              </p:cNvSpPr>
              <p:nvPr/>
            </p:nvSpPr>
            <p:spPr bwMode="auto">
              <a:xfrm>
                <a:off x="0" y="11877"/>
                <a:ext cx="9151698" cy="464252"/>
              </a:xfrm>
              <a:prstGeom prst="rect">
                <a:avLst/>
              </a:prstGeom>
              <a:solidFill>
                <a:srgbClr val="0098CD"/>
              </a:solidFill>
              <a:ln w="12700" cap="flat" cmpd="sng">
                <a:noFill/>
                <a:prstDash val="solid"/>
                <a:miter lim="0"/>
                <a:headEnd type="none" w="med" len="med"/>
                <a:tailEnd type="none" w="med" len="med"/>
              </a:ln>
              <a:effectLst/>
            </p:spPr>
            <p:txBody>
              <a:bodyPr lIns="0" tIns="0" rIns="0" bIns="0" anchor="ctr"/>
              <a:lstStyle>
                <a:lvl1pPr>
                  <a:defRPr>
                    <a:solidFill>
                      <a:srgbClr val="535353"/>
                    </a:solidFill>
                    <a:latin typeface="Arial" panose="020B0604020202020204" pitchFamily="34" charset="0"/>
                    <a:cs typeface="Arial" panose="020B0604020202020204" pitchFamily="34" charset="0"/>
                    <a:sym typeface="Arial" panose="020B0604020202020204" pitchFamily="34" charset="0"/>
                  </a:defRPr>
                </a:lvl1pPr>
                <a:lvl2pPr marL="37931725" indent="-37474525">
                  <a:defRPr>
                    <a:solidFill>
                      <a:srgbClr val="535353"/>
                    </a:solidFill>
                    <a:latin typeface="Arial" panose="020B0604020202020204" pitchFamily="34" charset="0"/>
                    <a:cs typeface="Arial" panose="020B0604020202020204" pitchFamily="34" charset="0"/>
                    <a:sym typeface="Arial" panose="020B0604020202020204" pitchFamily="34" charset="0"/>
                  </a:defRPr>
                </a:lvl2pPr>
                <a:lvl3pPr marL="1143000" indent="-228600">
                  <a:defRPr>
                    <a:solidFill>
                      <a:srgbClr val="535353"/>
                    </a:solidFill>
                    <a:latin typeface="Arial" panose="020B0604020202020204" pitchFamily="34" charset="0"/>
                    <a:cs typeface="Arial" panose="020B0604020202020204" pitchFamily="34" charset="0"/>
                    <a:sym typeface="Arial" panose="020B0604020202020204" pitchFamily="34" charset="0"/>
                  </a:defRPr>
                </a:lvl3pPr>
                <a:lvl4pPr marL="1600200" indent="-228600">
                  <a:defRPr>
                    <a:solidFill>
                      <a:srgbClr val="535353"/>
                    </a:solidFill>
                    <a:latin typeface="Arial" panose="020B0604020202020204" pitchFamily="34" charset="0"/>
                    <a:cs typeface="Arial" panose="020B0604020202020204" pitchFamily="34" charset="0"/>
                    <a:sym typeface="Arial" panose="020B0604020202020204" pitchFamily="34" charset="0"/>
                  </a:defRPr>
                </a:lvl4pPr>
                <a:lvl5pPr marL="2057400" indent="-228600">
                  <a:defRPr>
                    <a:solidFill>
                      <a:srgbClr val="535353"/>
                    </a:solidFill>
                    <a:latin typeface="Arial" panose="020B0604020202020204" pitchFamily="34" charset="0"/>
                    <a:cs typeface="Arial" panose="020B0604020202020204" pitchFamily="34" charset="0"/>
                    <a:sym typeface="Arial" panose="020B0604020202020204" pitchFamily="34" charset="0"/>
                  </a:defRPr>
                </a:lvl5pPr>
                <a:lvl6pPr marL="2514600" indent="-228600" defTabSz="457200" eaLnBrk="0" fontAlgn="base" hangingPunct="0">
                  <a:spcBef>
                    <a:spcPct val="0"/>
                  </a:spcBef>
                  <a:spcAft>
                    <a:spcPct val="0"/>
                  </a:spcAft>
                  <a:defRPr>
                    <a:solidFill>
                      <a:srgbClr val="535353"/>
                    </a:solidFill>
                    <a:latin typeface="Arial" panose="020B0604020202020204" pitchFamily="34" charset="0"/>
                    <a:cs typeface="Arial" panose="020B0604020202020204" pitchFamily="34" charset="0"/>
                    <a:sym typeface="Arial" panose="020B0604020202020204" pitchFamily="34" charset="0"/>
                  </a:defRPr>
                </a:lvl6pPr>
                <a:lvl7pPr marL="2971800" indent="-228600" defTabSz="457200" eaLnBrk="0" fontAlgn="base" hangingPunct="0">
                  <a:spcBef>
                    <a:spcPct val="0"/>
                  </a:spcBef>
                  <a:spcAft>
                    <a:spcPct val="0"/>
                  </a:spcAft>
                  <a:defRPr>
                    <a:solidFill>
                      <a:srgbClr val="535353"/>
                    </a:solidFill>
                    <a:latin typeface="Arial" panose="020B0604020202020204" pitchFamily="34" charset="0"/>
                    <a:cs typeface="Arial" panose="020B0604020202020204" pitchFamily="34" charset="0"/>
                    <a:sym typeface="Arial" panose="020B0604020202020204" pitchFamily="34" charset="0"/>
                  </a:defRPr>
                </a:lvl7pPr>
                <a:lvl8pPr marL="3429000" indent="-228600" defTabSz="457200" eaLnBrk="0" fontAlgn="base" hangingPunct="0">
                  <a:spcBef>
                    <a:spcPct val="0"/>
                  </a:spcBef>
                  <a:spcAft>
                    <a:spcPct val="0"/>
                  </a:spcAft>
                  <a:defRPr>
                    <a:solidFill>
                      <a:srgbClr val="535353"/>
                    </a:solidFill>
                    <a:latin typeface="Arial" panose="020B0604020202020204" pitchFamily="34" charset="0"/>
                    <a:cs typeface="Arial" panose="020B0604020202020204" pitchFamily="34" charset="0"/>
                    <a:sym typeface="Arial" panose="020B0604020202020204" pitchFamily="34" charset="0"/>
                  </a:defRPr>
                </a:lvl8pPr>
                <a:lvl9pPr marL="3886200" indent="-228600" defTabSz="457200" eaLnBrk="0" fontAlgn="base" hangingPunct="0">
                  <a:spcBef>
                    <a:spcPct val="0"/>
                  </a:spcBef>
                  <a:spcAft>
                    <a:spcPct val="0"/>
                  </a:spcAft>
                  <a:defRPr>
                    <a:solidFill>
                      <a:srgbClr val="535353"/>
                    </a:solidFill>
                    <a:latin typeface="Arial" panose="020B0604020202020204" pitchFamily="34" charset="0"/>
                    <a:cs typeface="Arial" panose="020B0604020202020204" pitchFamily="34" charset="0"/>
                    <a:sym typeface="Arial" panose="020B0604020202020204" pitchFamily="34" charset="0"/>
                  </a:defRPr>
                </a:lvl9pPr>
              </a:lstStyle>
              <a:p>
                <a:pPr algn="ctr" eaLnBrk="1">
                  <a:defRPr/>
                </a:pPr>
                <a:endParaRPr lang="es-ES" altLang="es-ES">
                  <a:solidFill>
                    <a:srgbClr val="FFFFFF"/>
                  </a:solidFill>
                </a:endParaRPr>
              </a:p>
            </p:txBody>
          </p:sp>
          <p:sp>
            <p:nvSpPr>
              <p:cNvPr id="14" name="Line 3">
                <a:extLst>
                  <a:ext uri="{FF2B5EF4-FFF2-40B4-BE49-F238E27FC236}">
                    <a16:creationId xmlns:a16="http://schemas.microsoft.com/office/drawing/2014/main" id="{DC545BB1-0205-E3BA-49A3-24D863F9955F}"/>
                  </a:ext>
                </a:extLst>
              </p:cNvPr>
              <p:cNvSpPr>
                <a:spLocks noChangeShapeType="1"/>
              </p:cNvSpPr>
              <p:nvPr/>
            </p:nvSpPr>
            <p:spPr bwMode="auto">
              <a:xfrm flipV="1">
                <a:off x="8453095" y="174889"/>
                <a:ext cx="1588" cy="136732"/>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lIns="0" tIns="0" rIns="0" bIns="0"/>
              <a:lstStyle/>
              <a:p>
                <a:endParaRPr lang="es-MX"/>
              </a:p>
            </p:txBody>
          </p:sp>
          <p:pic>
            <p:nvPicPr>
              <p:cNvPr id="15" name="Picture 5" descr="logoblanco.png">
                <a:extLst>
                  <a:ext uri="{FF2B5EF4-FFF2-40B4-BE49-F238E27FC236}">
                    <a16:creationId xmlns:a16="http://schemas.microsoft.com/office/drawing/2014/main" id="{334BD7B0-3E0D-1E3A-4A75-FC9D44ACEC95}"/>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70159" y="26315"/>
                <a:ext cx="1221275" cy="387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grpSp>
        <p:grpSp>
          <p:nvGrpSpPr>
            <p:cNvPr id="9" name="Group 1">
              <a:extLst>
                <a:ext uri="{FF2B5EF4-FFF2-40B4-BE49-F238E27FC236}">
                  <a16:creationId xmlns:a16="http://schemas.microsoft.com/office/drawing/2014/main" id="{1F71EF23-8129-CFA4-8ECF-25786B12E32D}"/>
                </a:ext>
              </a:extLst>
            </p:cNvPr>
            <p:cNvGrpSpPr>
              <a:grpSpLocks/>
            </p:cNvGrpSpPr>
            <p:nvPr userDrawn="1"/>
          </p:nvGrpSpPr>
          <p:grpSpPr bwMode="auto">
            <a:xfrm>
              <a:off x="0" y="6402388"/>
              <a:ext cx="9150350" cy="463550"/>
              <a:chOff x="0" y="0"/>
              <a:chExt cx="9151698" cy="464252"/>
            </a:xfrm>
          </p:grpSpPr>
          <p:sp>
            <p:nvSpPr>
              <p:cNvPr id="10" name="Rectangle 2">
                <a:extLst>
                  <a:ext uri="{FF2B5EF4-FFF2-40B4-BE49-F238E27FC236}">
                    <a16:creationId xmlns:a16="http://schemas.microsoft.com/office/drawing/2014/main" id="{B315D5D7-A861-4D2C-78C1-E1F3B59E182D}"/>
                  </a:ext>
                </a:extLst>
              </p:cNvPr>
              <p:cNvSpPr>
                <a:spLocks/>
              </p:cNvSpPr>
              <p:nvPr/>
            </p:nvSpPr>
            <p:spPr bwMode="auto">
              <a:xfrm>
                <a:off x="0" y="0"/>
                <a:ext cx="9151698" cy="464252"/>
              </a:xfrm>
              <a:prstGeom prst="rect">
                <a:avLst/>
              </a:prstGeom>
              <a:solidFill>
                <a:srgbClr val="0098CD"/>
              </a:solidFill>
              <a:ln w="12700" cap="flat" cmpd="sng">
                <a:noFill/>
                <a:prstDash val="solid"/>
                <a:miter lim="0"/>
                <a:headEnd type="none" w="med" len="med"/>
                <a:tailEnd type="none" w="med" len="med"/>
              </a:ln>
              <a:effectLst/>
            </p:spPr>
            <p:txBody>
              <a:bodyPr lIns="0" tIns="0" rIns="0" bIns="0" anchor="ctr"/>
              <a:lstStyle>
                <a:lvl1pPr>
                  <a:defRPr>
                    <a:solidFill>
                      <a:srgbClr val="535353"/>
                    </a:solidFill>
                    <a:latin typeface="Arial" panose="020B0604020202020204" pitchFamily="34" charset="0"/>
                    <a:cs typeface="Arial" panose="020B0604020202020204" pitchFamily="34" charset="0"/>
                    <a:sym typeface="Arial" panose="020B0604020202020204" pitchFamily="34" charset="0"/>
                  </a:defRPr>
                </a:lvl1pPr>
                <a:lvl2pPr marL="37931725" indent="-37474525">
                  <a:defRPr>
                    <a:solidFill>
                      <a:srgbClr val="535353"/>
                    </a:solidFill>
                    <a:latin typeface="Arial" panose="020B0604020202020204" pitchFamily="34" charset="0"/>
                    <a:cs typeface="Arial" panose="020B0604020202020204" pitchFamily="34" charset="0"/>
                    <a:sym typeface="Arial" panose="020B0604020202020204" pitchFamily="34" charset="0"/>
                  </a:defRPr>
                </a:lvl2pPr>
                <a:lvl3pPr marL="1143000" indent="-228600">
                  <a:defRPr>
                    <a:solidFill>
                      <a:srgbClr val="535353"/>
                    </a:solidFill>
                    <a:latin typeface="Arial" panose="020B0604020202020204" pitchFamily="34" charset="0"/>
                    <a:cs typeface="Arial" panose="020B0604020202020204" pitchFamily="34" charset="0"/>
                    <a:sym typeface="Arial" panose="020B0604020202020204" pitchFamily="34" charset="0"/>
                  </a:defRPr>
                </a:lvl3pPr>
                <a:lvl4pPr marL="1600200" indent="-228600">
                  <a:defRPr>
                    <a:solidFill>
                      <a:srgbClr val="535353"/>
                    </a:solidFill>
                    <a:latin typeface="Arial" panose="020B0604020202020204" pitchFamily="34" charset="0"/>
                    <a:cs typeface="Arial" panose="020B0604020202020204" pitchFamily="34" charset="0"/>
                    <a:sym typeface="Arial" panose="020B0604020202020204" pitchFamily="34" charset="0"/>
                  </a:defRPr>
                </a:lvl4pPr>
                <a:lvl5pPr marL="2057400" indent="-228600">
                  <a:defRPr>
                    <a:solidFill>
                      <a:srgbClr val="535353"/>
                    </a:solidFill>
                    <a:latin typeface="Arial" panose="020B0604020202020204" pitchFamily="34" charset="0"/>
                    <a:cs typeface="Arial" panose="020B0604020202020204" pitchFamily="34" charset="0"/>
                    <a:sym typeface="Arial" panose="020B0604020202020204" pitchFamily="34" charset="0"/>
                  </a:defRPr>
                </a:lvl5pPr>
                <a:lvl6pPr marL="2514600" indent="-228600" defTabSz="457200" eaLnBrk="0" fontAlgn="base" hangingPunct="0">
                  <a:spcBef>
                    <a:spcPct val="0"/>
                  </a:spcBef>
                  <a:spcAft>
                    <a:spcPct val="0"/>
                  </a:spcAft>
                  <a:defRPr>
                    <a:solidFill>
                      <a:srgbClr val="535353"/>
                    </a:solidFill>
                    <a:latin typeface="Arial" panose="020B0604020202020204" pitchFamily="34" charset="0"/>
                    <a:cs typeface="Arial" panose="020B0604020202020204" pitchFamily="34" charset="0"/>
                    <a:sym typeface="Arial" panose="020B0604020202020204" pitchFamily="34" charset="0"/>
                  </a:defRPr>
                </a:lvl6pPr>
                <a:lvl7pPr marL="2971800" indent="-228600" defTabSz="457200" eaLnBrk="0" fontAlgn="base" hangingPunct="0">
                  <a:spcBef>
                    <a:spcPct val="0"/>
                  </a:spcBef>
                  <a:spcAft>
                    <a:spcPct val="0"/>
                  </a:spcAft>
                  <a:defRPr>
                    <a:solidFill>
                      <a:srgbClr val="535353"/>
                    </a:solidFill>
                    <a:latin typeface="Arial" panose="020B0604020202020204" pitchFamily="34" charset="0"/>
                    <a:cs typeface="Arial" panose="020B0604020202020204" pitchFamily="34" charset="0"/>
                    <a:sym typeface="Arial" panose="020B0604020202020204" pitchFamily="34" charset="0"/>
                  </a:defRPr>
                </a:lvl7pPr>
                <a:lvl8pPr marL="3429000" indent="-228600" defTabSz="457200" eaLnBrk="0" fontAlgn="base" hangingPunct="0">
                  <a:spcBef>
                    <a:spcPct val="0"/>
                  </a:spcBef>
                  <a:spcAft>
                    <a:spcPct val="0"/>
                  </a:spcAft>
                  <a:defRPr>
                    <a:solidFill>
                      <a:srgbClr val="535353"/>
                    </a:solidFill>
                    <a:latin typeface="Arial" panose="020B0604020202020204" pitchFamily="34" charset="0"/>
                    <a:cs typeface="Arial" panose="020B0604020202020204" pitchFamily="34" charset="0"/>
                    <a:sym typeface="Arial" panose="020B0604020202020204" pitchFamily="34" charset="0"/>
                  </a:defRPr>
                </a:lvl8pPr>
                <a:lvl9pPr marL="3886200" indent="-228600" defTabSz="457200" eaLnBrk="0" fontAlgn="base" hangingPunct="0">
                  <a:spcBef>
                    <a:spcPct val="0"/>
                  </a:spcBef>
                  <a:spcAft>
                    <a:spcPct val="0"/>
                  </a:spcAft>
                  <a:defRPr>
                    <a:solidFill>
                      <a:srgbClr val="535353"/>
                    </a:solidFill>
                    <a:latin typeface="Arial" panose="020B0604020202020204" pitchFamily="34" charset="0"/>
                    <a:cs typeface="Arial" panose="020B0604020202020204" pitchFamily="34" charset="0"/>
                    <a:sym typeface="Arial" panose="020B0604020202020204" pitchFamily="34" charset="0"/>
                  </a:defRPr>
                </a:lvl9pPr>
              </a:lstStyle>
              <a:p>
                <a:pPr algn="ctr" eaLnBrk="1">
                  <a:defRPr/>
                </a:pPr>
                <a:endParaRPr lang="es-ES" altLang="es-ES">
                  <a:solidFill>
                    <a:srgbClr val="FFFFFF"/>
                  </a:solidFill>
                </a:endParaRPr>
              </a:p>
            </p:txBody>
          </p:sp>
          <p:sp>
            <p:nvSpPr>
              <p:cNvPr id="11" name="Line 3">
                <a:extLst>
                  <a:ext uri="{FF2B5EF4-FFF2-40B4-BE49-F238E27FC236}">
                    <a16:creationId xmlns:a16="http://schemas.microsoft.com/office/drawing/2014/main" id="{485BE3FF-3A08-E10F-711D-D877F517B5DE}"/>
                  </a:ext>
                </a:extLst>
              </p:cNvPr>
              <p:cNvSpPr>
                <a:spLocks noChangeShapeType="1"/>
              </p:cNvSpPr>
              <p:nvPr/>
            </p:nvSpPr>
            <p:spPr bwMode="auto">
              <a:xfrm flipV="1">
                <a:off x="8453095" y="174889"/>
                <a:ext cx="1588" cy="136732"/>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lIns="0" tIns="0" rIns="0" bIns="0"/>
              <a:lstStyle/>
              <a:p>
                <a:endParaRPr lang="es-MX"/>
              </a:p>
            </p:txBody>
          </p:sp>
          <p:pic>
            <p:nvPicPr>
              <p:cNvPr id="12" name="Picture 5" descr="logoblanco.png">
                <a:extLst>
                  <a:ext uri="{FF2B5EF4-FFF2-40B4-BE49-F238E27FC236}">
                    <a16:creationId xmlns:a16="http://schemas.microsoft.com/office/drawing/2014/main" id="{DC7F10A2-0DFE-5C75-B4B6-0E82C96B2A94}"/>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370159" y="26315"/>
                <a:ext cx="1221275" cy="387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0"/>
                    <a:headEnd/>
                    <a:tailEnd/>
                  </a14:hiddenLine>
                </a:ext>
              </a:extLst>
            </p:spPr>
          </p:pic>
        </p:grpSp>
      </p:grpSp>
    </p:spTree>
    <p:extLst>
      <p:ext uri="{BB962C8B-B14F-4D97-AF65-F5344CB8AC3E}">
        <p14:creationId xmlns:p14="http://schemas.microsoft.com/office/powerpoint/2010/main" val="358862132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university.redis.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university.mongodb.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academy.datastax.com/#/search?term=cassandr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4D3550-533E-54FC-BB05-7A6A238772FA}"/>
              </a:ext>
            </a:extLst>
          </p:cNvPr>
          <p:cNvSpPr>
            <a:spLocks noGrp="1"/>
          </p:cNvSpPr>
          <p:nvPr>
            <p:ph type="ctrTitle"/>
          </p:nvPr>
        </p:nvSpPr>
        <p:spPr/>
        <p:txBody>
          <a:bodyPr/>
          <a:lstStyle/>
          <a:p>
            <a:r>
              <a:rPr lang="es-MX" dirty="0"/>
              <a:t>Tema 2</a:t>
            </a:r>
            <a:br>
              <a:rPr lang="es-MX" dirty="0"/>
            </a:br>
            <a:r>
              <a:rPr lang="es-MX" dirty="0"/>
              <a:t>Modelos NOSQL</a:t>
            </a:r>
          </a:p>
        </p:txBody>
      </p:sp>
    </p:spTree>
    <p:extLst>
      <p:ext uri="{BB962C8B-B14F-4D97-AF65-F5344CB8AC3E}">
        <p14:creationId xmlns:p14="http://schemas.microsoft.com/office/powerpoint/2010/main" val="2648069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3A43FB-1776-C16B-FCC7-8E0D31C84524}"/>
              </a:ext>
            </a:extLst>
          </p:cNvPr>
          <p:cNvSpPr>
            <a:spLocks noGrp="1"/>
          </p:cNvSpPr>
          <p:nvPr>
            <p:ph type="title"/>
          </p:nvPr>
        </p:nvSpPr>
        <p:spPr/>
        <p:txBody>
          <a:bodyPr/>
          <a:lstStyle/>
          <a:p>
            <a:r>
              <a:rPr lang="es-MX" dirty="0"/>
              <a:t>¿Qué es una base de datos NOSQL?</a:t>
            </a:r>
          </a:p>
        </p:txBody>
      </p:sp>
      <p:sp>
        <p:nvSpPr>
          <p:cNvPr id="3" name="Marcador de contenido 2">
            <a:extLst>
              <a:ext uri="{FF2B5EF4-FFF2-40B4-BE49-F238E27FC236}">
                <a16:creationId xmlns:a16="http://schemas.microsoft.com/office/drawing/2014/main" id="{13528427-D5F1-2F65-9F27-BFCA7123B192}"/>
              </a:ext>
            </a:extLst>
          </p:cNvPr>
          <p:cNvSpPr>
            <a:spLocks noGrp="1"/>
          </p:cNvSpPr>
          <p:nvPr>
            <p:ph idx="1"/>
          </p:nvPr>
        </p:nvSpPr>
        <p:spPr/>
        <p:txBody>
          <a:bodyPr/>
          <a:lstStyle/>
          <a:p>
            <a:r>
              <a:rPr lang="es-ES" dirty="0"/>
              <a:t>NoSQL es una base de datos no relacional, lo que significa que permite diferentes estructuras que una base de datos SQL (no filas y columnas) y más flexibilidad para usar el formato que mejor se adapte a los datos. </a:t>
            </a:r>
          </a:p>
          <a:p>
            <a:r>
              <a:rPr lang="es-ES" dirty="0"/>
              <a:t>El término "NoSQL" no se acuñó hasta principios de la década de 2000. No significa que los sistemas no usen SQL, ya que las bases de datos NoSQL a veces admiten algunos comandos SQL. Más precisamente, "NoSQL" a veces se define como "no solo SQL".</a:t>
            </a:r>
            <a:endParaRPr lang="es-MX" dirty="0"/>
          </a:p>
        </p:txBody>
      </p:sp>
    </p:spTree>
    <p:extLst>
      <p:ext uri="{BB962C8B-B14F-4D97-AF65-F5344CB8AC3E}">
        <p14:creationId xmlns:p14="http://schemas.microsoft.com/office/powerpoint/2010/main" val="1468692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72AF64-037F-A9E1-E9F3-B86F22AB8322}"/>
              </a:ext>
            </a:extLst>
          </p:cNvPr>
          <p:cNvSpPr>
            <a:spLocks noGrp="1"/>
          </p:cNvSpPr>
          <p:nvPr>
            <p:ph type="title"/>
          </p:nvPr>
        </p:nvSpPr>
        <p:spPr/>
        <p:txBody>
          <a:bodyPr/>
          <a:lstStyle/>
          <a:p>
            <a:r>
              <a:rPr lang="es-MX" dirty="0"/>
              <a:t>Tipos de bases de datos NOSQL</a:t>
            </a:r>
          </a:p>
        </p:txBody>
      </p:sp>
      <p:sp>
        <p:nvSpPr>
          <p:cNvPr id="3" name="Marcador de contenido 2">
            <a:extLst>
              <a:ext uri="{FF2B5EF4-FFF2-40B4-BE49-F238E27FC236}">
                <a16:creationId xmlns:a16="http://schemas.microsoft.com/office/drawing/2014/main" id="{79C9FA4E-9456-B6BE-D7F3-62DCFF4F37DC}"/>
              </a:ext>
            </a:extLst>
          </p:cNvPr>
          <p:cNvSpPr>
            <a:spLocks noGrp="1"/>
          </p:cNvSpPr>
          <p:nvPr>
            <p:ph idx="1"/>
          </p:nvPr>
        </p:nvSpPr>
        <p:spPr/>
        <p:txBody>
          <a:bodyPr/>
          <a:lstStyle/>
          <a:p>
            <a:r>
              <a:rPr lang="es-MX" dirty="0"/>
              <a:t>Key-</a:t>
            </a:r>
            <a:r>
              <a:rPr lang="es-MX" dirty="0" err="1"/>
              <a:t>Value</a:t>
            </a:r>
            <a:r>
              <a:rPr lang="es-MX" dirty="0"/>
              <a:t> store</a:t>
            </a:r>
          </a:p>
          <a:p>
            <a:r>
              <a:rPr lang="es-MX" dirty="0" err="1"/>
              <a:t>Document</a:t>
            </a:r>
            <a:r>
              <a:rPr lang="es-MX" dirty="0"/>
              <a:t> store</a:t>
            </a:r>
          </a:p>
          <a:p>
            <a:r>
              <a:rPr lang="es-MX" dirty="0"/>
              <a:t>Wide </a:t>
            </a:r>
            <a:r>
              <a:rPr lang="es-MX" dirty="0" err="1"/>
              <a:t>Column</a:t>
            </a:r>
            <a:r>
              <a:rPr lang="es-MX" dirty="0"/>
              <a:t> store</a:t>
            </a:r>
          </a:p>
          <a:p>
            <a:r>
              <a:rPr lang="es-MX" dirty="0" err="1"/>
              <a:t>Graph</a:t>
            </a:r>
            <a:r>
              <a:rPr lang="es-MX" dirty="0"/>
              <a:t> store</a:t>
            </a:r>
          </a:p>
          <a:p>
            <a:r>
              <a:rPr lang="es-MX" dirty="0" err="1"/>
              <a:t>In-memory-store</a:t>
            </a:r>
            <a:endParaRPr lang="es-MX" dirty="0"/>
          </a:p>
        </p:txBody>
      </p:sp>
    </p:spTree>
    <p:extLst>
      <p:ext uri="{BB962C8B-B14F-4D97-AF65-F5344CB8AC3E}">
        <p14:creationId xmlns:p14="http://schemas.microsoft.com/office/powerpoint/2010/main" val="3376270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72AF64-037F-A9E1-E9F3-B86F22AB8322}"/>
              </a:ext>
            </a:extLst>
          </p:cNvPr>
          <p:cNvSpPr>
            <a:spLocks noGrp="1"/>
          </p:cNvSpPr>
          <p:nvPr>
            <p:ph type="title"/>
          </p:nvPr>
        </p:nvSpPr>
        <p:spPr/>
        <p:txBody>
          <a:bodyPr/>
          <a:lstStyle/>
          <a:p>
            <a:r>
              <a:rPr lang="es-MX" dirty="0"/>
              <a:t>Tipos de bases de datos NOSQL</a:t>
            </a:r>
          </a:p>
        </p:txBody>
      </p:sp>
      <p:sp>
        <p:nvSpPr>
          <p:cNvPr id="3" name="Marcador de contenido 2">
            <a:extLst>
              <a:ext uri="{FF2B5EF4-FFF2-40B4-BE49-F238E27FC236}">
                <a16:creationId xmlns:a16="http://schemas.microsoft.com/office/drawing/2014/main" id="{79C9FA4E-9456-B6BE-D7F3-62DCFF4F37DC}"/>
              </a:ext>
            </a:extLst>
          </p:cNvPr>
          <p:cNvSpPr>
            <a:spLocks noGrp="1"/>
          </p:cNvSpPr>
          <p:nvPr>
            <p:ph idx="1"/>
          </p:nvPr>
        </p:nvSpPr>
        <p:spPr>
          <a:xfrm>
            <a:off x="0" y="1825625"/>
            <a:ext cx="5375920" cy="4351338"/>
          </a:xfrm>
        </p:spPr>
        <p:txBody>
          <a:bodyPr>
            <a:normAutofit fontScale="85000" lnSpcReduction="20000"/>
          </a:bodyPr>
          <a:lstStyle/>
          <a:p>
            <a:r>
              <a:rPr lang="es-MX" dirty="0"/>
              <a:t>Key-</a:t>
            </a:r>
            <a:r>
              <a:rPr lang="es-MX" dirty="0" err="1"/>
              <a:t>Value</a:t>
            </a:r>
            <a:r>
              <a:rPr lang="es-MX" dirty="0"/>
              <a:t> store</a:t>
            </a:r>
          </a:p>
          <a:p>
            <a:r>
              <a:rPr lang="es-ES" dirty="0"/>
              <a:t>Este modelo de datos sin esquema está organizado en un diccionario de pares clave-valor, donde cada elemento tiene una clave y un valor. Se usa comúnmente para almacenar en caché y almacenar información de la sesión del usuario, como carritos de compras. Sin embargo, no es ideal cuando necesita extraer varios registros a la vez. </a:t>
            </a:r>
          </a:p>
          <a:p>
            <a:r>
              <a:rPr lang="es-ES" dirty="0"/>
              <a:t>Redis (</a:t>
            </a:r>
            <a:r>
              <a:rPr lang="en-US" dirty="0">
                <a:hlinkClick r:id="rId2"/>
              </a:rPr>
              <a:t>Learn Redis with Free Online Courses | Redis University</a:t>
            </a:r>
            <a:r>
              <a:rPr lang="en-US" dirty="0"/>
              <a:t>)</a:t>
            </a:r>
            <a:r>
              <a:rPr lang="es-ES" dirty="0"/>
              <a:t> y </a:t>
            </a:r>
            <a:r>
              <a:rPr lang="es-ES" dirty="0" err="1"/>
              <a:t>Memcached</a:t>
            </a:r>
            <a:r>
              <a:rPr lang="es-ES" dirty="0"/>
              <a:t> son ejemplos de bases de datos de clave-valor de código abierto.</a:t>
            </a:r>
            <a:endParaRPr lang="es-MX" dirty="0"/>
          </a:p>
        </p:txBody>
      </p:sp>
      <p:pic>
        <p:nvPicPr>
          <p:cNvPr id="5" name="Imagen 4">
            <a:extLst>
              <a:ext uri="{FF2B5EF4-FFF2-40B4-BE49-F238E27FC236}">
                <a16:creationId xmlns:a16="http://schemas.microsoft.com/office/drawing/2014/main" id="{F2794D21-ABD6-25C7-80A1-3CFAF3F47324}"/>
              </a:ext>
            </a:extLst>
          </p:cNvPr>
          <p:cNvPicPr>
            <a:picLocks noChangeAspect="1"/>
          </p:cNvPicPr>
          <p:nvPr/>
        </p:nvPicPr>
        <p:blipFill>
          <a:blip r:embed="rId3"/>
          <a:stretch>
            <a:fillRect/>
          </a:stretch>
        </p:blipFill>
        <p:spPr>
          <a:xfrm>
            <a:off x="5519936" y="1989406"/>
            <a:ext cx="6489973" cy="2879188"/>
          </a:xfrm>
          <a:prstGeom prst="rect">
            <a:avLst/>
          </a:prstGeom>
        </p:spPr>
      </p:pic>
    </p:spTree>
    <p:extLst>
      <p:ext uri="{BB962C8B-B14F-4D97-AF65-F5344CB8AC3E}">
        <p14:creationId xmlns:p14="http://schemas.microsoft.com/office/powerpoint/2010/main" val="1992791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72AF64-037F-A9E1-E9F3-B86F22AB8322}"/>
              </a:ext>
            </a:extLst>
          </p:cNvPr>
          <p:cNvSpPr>
            <a:spLocks noGrp="1"/>
          </p:cNvSpPr>
          <p:nvPr>
            <p:ph type="title"/>
          </p:nvPr>
        </p:nvSpPr>
        <p:spPr/>
        <p:txBody>
          <a:bodyPr/>
          <a:lstStyle/>
          <a:p>
            <a:r>
              <a:rPr lang="es-MX" dirty="0"/>
              <a:t>Tipos de bases de datos NOSQL</a:t>
            </a:r>
          </a:p>
        </p:txBody>
      </p:sp>
      <p:sp>
        <p:nvSpPr>
          <p:cNvPr id="3" name="Marcador de contenido 2">
            <a:extLst>
              <a:ext uri="{FF2B5EF4-FFF2-40B4-BE49-F238E27FC236}">
                <a16:creationId xmlns:a16="http://schemas.microsoft.com/office/drawing/2014/main" id="{79C9FA4E-9456-B6BE-D7F3-62DCFF4F37DC}"/>
              </a:ext>
            </a:extLst>
          </p:cNvPr>
          <p:cNvSpPr>
            <a:spLocks noGrp="1"/>
          </p:cNvSpPr>
          <p:nvPr>
            <p:ph idx="1"/>
          </p:nvPr>
        </p:nvSpPr>
        <p:spPr>
          <a:xfrm>
            <a:off x="263352" y="1825625"/>
            <a:ext cx="5472608" cy="4351338"/>
          </a:xfrm>
        </p:spPr>
        <p:txBody>
          <a:bodyPr>
            <a:normAutofit fontScale="85000" lnSpcReduction="20000"/>
          </a:bodyPr>
          <a:lstStyle/>
          <a:p>
            <a:pPr marL="0" indent="0">
              <a:buNone/>
            </a:pPr>
            <a:r>
              <a:rPr lang="es-MX" dirty="0" err="1"/>
              <a:t>Document</a:t>
            </a:r>
            <a:r>
              <a:rPr lang="es-MX" dirty="0"/>
              <a:t> store</a:t>
            </a:r>
          </a:p>
          <a:p>
            <a:pPr marL="0" indent="0">
              <a:buNone/>
            </a:pPr>
            <a:r>
              <a:rPr lang="es-ES" dirty="0"/>
              <a:t>Almacenan datos como documentos y generalmente se almacenan en formatos JSON, XML o BSON. </a:t>
            </a:r>
          </a:p>
          <a:p>
            <a:pPr marL="0" indent="0">
              <a:buNone/>
            </a:pPr>
            <a:r>
              <a:rPr lang="es-ES" dirty="0"/>
              <a:t>Los desarrolladores también ganan más flexibilidad ya que los esquemas de datos no necesitan coincidir entre </a:t>
            </a:r>
          </a:p>
          <a:p>
            <a:pPr marL="0" indent="0">
              <a:buNone/>
            </a:pPr>
            <a:r>
              <a:rPr lang="es-ES" dirty="0"/>
              <a:t>Los casos de uso populares de bases de datos de documentos incluyen sistemas de gestión de contenido y perfiles de usuario. Un ejemplo de una base de datos orientada a documentos es MongoDB (</a:t>
            </a:r>
            <a:r>
              <a:rPr lang="en-US" dirty="0">
                <a:hlinkClick r:id="rId2"/>
              </a:rPr>
              <a:t>Free MongoDB Official Courses | MongoDB University</a:t>
            </a:r>
            <a:r>
              <a:rPr lang="en-US" dirty="0"/>
              <a:t>)</a:t>
            </a:r>
            <a:r>
              <a:rPr lang="es-ES" dirty="0"/>
              <a:t>.</a:t>
            </a:r>
            <a:endParaRPr lang="es-MX" dirty="0"/>
          </a:p>
        </p:txBody>
      </p:sp>
      <p:pic>
        <p:nvPicPr>
          <p:cNvPr id="5" name="Imagen 4">
            <a:extLst>
              <a:ext uri="{FF2B5EF4-FFF2-40B4-BE49-F238E27FC236}">
                <a16:creationId xmlns:a16="http://schemas.microsoft.com/office/drawing/2014/main" id="{AE170D26-5063-BF7A-7FBD-442E970CB83A}"/>
              </a:ext>
            </a:extLst>
          </p:cNvPr>
          <p:cNvPicPr>
            <a:picLocks noChangeAspect="1"/>
          </p:cNvPicPr>
          <p:nvPr/>
        </p:nvPicPr>
        <p:blipFill>
          <a:blip r:embed="rId3"/>
          <a:stretch>
            <a:fillRect/>
          </a:stretch>
        </p:blipFill>
        <p:spPr>
          <a:xfrm>
            <a:off x="5755702" y="1556792"/>
            <a:ext cx="6191250" cy="3514725"/>
          </a:xfrm>
          <a:prstGeom prst="rect">
            <a:avLst/>
          </a:prstGeom>
        </p:spPr>
      </p:pic>
    </p:spTree>
    <p:extLst>
      <p:ext uri="{BB962C8B-B14F-4D97-AF65-F5344CB8AC3E}">
        <p14:creationId xmlns:p14="http://schemas.microsoft.com/office/powerpoint/2010/main" val="250037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F3798-1F85-646E-C1C0-0A67B740E7BD}"/>
              </a:ext>
            </a:extLst>
          </p:cNvPr>
          <p:cNvSpPr>
            <a:spLocks noGrp="1"/>
          </p:cNvSpPr>
          <p:nvPr>
            <p:ph type="title"/>
          </p:nvPr>
        </p:nvSpPr>
        <p:spPr/>
        <p:txBody>
          <a:bodyPr/>
          <a:lstStyle/>
          <a:p>
            <a:r>
              <a:rPr lang="es-MX" dirty="0"/>
              <a:t>Tipos de bases de datos NOSQL</a:t>
            </a:r>
          </a:p>
        </p:txBody>
      </p:sp>
      <p:sp>
        <p:nvSpPr>
          <p:cNvPr id="3" name="Marcador de contenido 2">
            <a:extLst>
              <a:ext uri="{FF2B5EF4-FFF2-40B4-BE49-F238E27FC236}">
                <a16:creationId xmlns:a16="http://schemas.microsoft.com/office/drawing/2014/main" id="{DD7AF90A-4E0C-A16F-E7FF-E0E989E5E3BD}"/>
              </a:ext>
            </a:extLst>
          </p:cNvPr>
          <p:cNvSpPr>
            <a:spLocks noGrp="1"/>
          </p:cNvSpPr>
          <p:nvPr>
            <p:ph idx="1"/>
          </p:nvPr>
        </p:nvSpPr>
        <p:spPr/>
        <p:txBody>
          <a:bodyPr>
            <a:normAutofit fontScale="77500" lnSpcReduction="20000"/>
          </a:bodyPr>
          <a:lstStyle/>
          <a:p>
            <a:pPr marL="0" indent="0">
              <a:buNone/>
            </a:pPr>
            <a:r>
              <a:rPr lang="es-ES" dirty="0"/>
              <a:t>Wide-</a:t>
            </a:r>
            <a:r>
              <a:rPr lang="es-ES" dirty="0" err="1"/>
              <a:t>column</a:t>
            </a:r>
            <a:r>
              <a:rPr lang="es-ES" dirty="0"/>
              <a:t> store</a:t>
            </a:r>
          </a:p>
          <a:p>
            <a:pPr marL="0" indent="0">
              <a:buNone/>
            </a:pPr>
            <a:r>
              <a:rPr lang="es-ES" dirty="0"/>
              <a:t>Estas bases de datos almacenan información en columnas, lo que permite a los usuarios acceder solo a las columnas específicas que necesitan sin asignar memoria adicional a datos irrelevantes.</a:t>
            </a:r>
          </a:p>
          <a:p>
            <a:pPr marL="0" indent="0">
              <a:buNone/>
            </a:pPr>
            <a:r>
              <a:rPr lang="es-ES" dirty="0"/>
              <a:t> Esta base de datos intenta resolver las deficiencias de los valores clave y los almacenes de documentos, pero dado que puede ser un sistema más complejo de administrar, no se recomienda su uso para equipos y proyectos más nuevos. Apache </a:t>
            </a:r>
            <a:r>
              <a:rPr lang="es-ES" dirty="0" err="1"/>
              <a:t>HBase</a:t>
            </a:r>
            <a:r>
              <a:rPr lang="es-ES" dirty="0"/>
              <a:t> y Apache </a:t>
            </a:r>
            <a:r>
              <a:rPr lang="es-ES" dirty="0" err="1"/>
              <a:t>Cassandra</a:t>
            </a:r>
            <a:r>
              <a:rPr lang="es-ES" dirty="0"/>
              <a:t> son ejemplos de bases de datos de columna ancha de código abierto. </a:t>
            </a:r>
          </a:p>
          <a:p>
            <a:pPr marL="0" indent="0">
              <a:buNone/>
            </a:pPr>
            <a:r>
              <a:rPr lang="es-ES" dirty="0" err="1"/>
              <a:t>ApacheHBase</a:t>
            </a:r>
            <a:r>
              <a:rPr lang="es-ES" dirty="0"/>
              <a:t> se basa en el sistema de archivos distribuidos de Hadoop que proporciona una forma de almacenar conjuntos de datos dispersos, que se usa comúnmente en muchas aplicaciones de </a:t>
            </a:r>
            <a:r>
              <a:rPr lang="es-ES" dirty="0" err="1"/>
              <a:t>big</a:t>
            </a:r>
            <a:r>
              <a:rPr lang="es-ES" dirty="0"/>
              <a:t> data. </a:t>
            </a:r>
          </a:p>
          <a:p>
            <a:pPr marL="0" indent="0">
              <a:buNone/>
            </a:pPr>
            <a:r>
              <a:rPr lang="es-ES" dirty="0" err="1"/>
              <a:t>ApacheCassandra</a:t>
            </a:r>
            <a:r>
              <a:rPr lang="es-ES" dirty="0"/>
              <a:t> (</a:t>
            </a:r>
            <a:r>
              <a:rPr lang="es-MX" dirty="0" err="1">
                <a:hlinkClick r:id="rId2"/>
              </a:rPr>
              <a:t>Search</a:t>
            </a:r>
            <a:r>
              <a:rPr lang="es-MX" dirty="0">
                <a:hlinkClick r:id="rId2"/>
              </a:rPr>
              <a:t> | </a:t>
            </a:r>
            <a:r>
              <a:rPr lang="es-MX" dirty="0" err="1">
                <a:hlinkClick r:id="rId2"/>
              </a:rPr>
              <a:t>Datastax</a:t>
            </a:r>
            <a:r>
              <a:rPr lang="es-MX" dirty="0">
                <a:hlinkClick r:id="rId2"/>
              </a:rPr>
              <a:t> </a:t>
            </a:r>
            <a:r>
              <a:rPr lang="es-MX" dirty="0" err="1">
                <a:hlinkClick r:id="rId2"/>
              </a:rPr>
              <a:t>AbsorbLMS</a:t>
            </a:r>
            <a:r>
              <a:rPr lang="es-MX" dirty="0"/>
              <a:t>)</a:t>
            </a:r>
            <a:r>
              <a:rPr lang="es-ES" dirty="0"/>
              <a:t>, por otro lado, ha sido diseñado para administrar grandes cantidades de datos en múltiples servidores y agrupaciones que abarcan múltiples centros de datos. Se ha utilizado para una variedad de casos de uso, como sitios web de redes sociales y análisis de datos en tiempo real.</a:t>
            </a:r>
            <a:endParaRPr lang="es-MX" dirty="0"/>
          </a:p>
        </p:txBody>
      </p:sp>
    </p:spTree>
    <p:extLst>
      <p:ext uri="{BB962C8B-B14F-4D97-AF65-F5344CB8AC3E}">
        <p14:creationId xmlns:p14="http://schemas.microsoft.com/office/powerpoint/2010/main" val="1252977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2B8EE8-5EEB-F41D-21E3-5325BA66F954}"/>
              </a:ext>
            </a:extLst>
          </p:cNvPr>
          <p:cNvSpPr>
            <a:spLocks noGrp="1"/>
          </p:cNvSpPr>
          <p:nvPr>
            <p:ph type="title"/>
          </p:nvPr>
        </p:nvSpPr>
        <p:spPr/>
        <p:txBody>
          <a:bodyPr/>
          <a:lstStyle/>
          <a:p>
            <a:r>
              <a:rPr lang="es-MX" dirty="0"/>
              <a:t>Modelo de datos de </a:t>
            </a:r>
            <a:r>
              <a:rPr lang="es-MX" dirty="0" err="1"/>
              <a:t>Cassandra</a:t>
            </a:r>
            <a:endParaRPr lang="es-MX" dirty="0"/>
          </a:p>
        </p:txBody>
      </p:sp>
      <p:pic>
        <p:nvPicPr>
          <p:cNvPr id="9" name="Imagen 8">
            <a:extLst>
              <a:ext uri="{FF2B5EF4-FFF2-40B4-BE49-F238E27FC236}">
                <a16:creationId xmlns:a16="http://schemas.microsoft.com/office/drawing/2014/main" id="{7D510818-5953-0A44-523A-1CA0F7ED393A}"/>
              </a:ext>
            </a:extLst>
          </p:cNvPr>
          <p:cNvPicPr>
            <a:picLocks noChangeAspect="1"/>
          </p:cNvPicPr>
          <p:nvPr/>
        </p:nvPicPr>
        <p:blipFill>
          <a:blip r:embed="rId2"/>
          <a:stretch>
            <a:fillRect/>
          </a:stretch>
        </p:blipFill>
        <p:spPr>
          <a:xfrm>
            <a:off x="119336" y="1340768"/>
            <a:ext cx="11903968" cy="4860978"/>
          </a:xfrm>
          <a:prstGeom prst="rect">
            <a:avLst/>
          </a:prstGeom>
        </p:spPr>
      </p:pic>
    </p:spTree>
    <p:extLst>
      <p:ext uri="{BB962C8B-B14F-4D97-AF65-F5344CB8AC3E}">
        <p14:creationId xmlns:p14="http://schemas.microsoft.com/office/powerpoint/2010/main" val="3754108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2F3798-1F85-646E-C1C0-0A67B740E7BD}"/>
              </a:ext>
            </a:extLst>
          </p:cNvPr>
          <p:cNvSpPr>
            <a:spLocks noGrp="1"/>
          </p:cNvSpPr>
          <p:nvPr>
            <p:ph type="title"/>
          </p:nvPr>
        </p:nvSpPr>
        <p:spPr/>
        <p:txBody>
          <a:bodyPr/>
          <a:lstStyle/>
          <a:p>
            <a:r>
              <a:rPr lang="es-MX" dirty="0"/>
              <a:t>Tipos de bases de datos NOSQL</a:t>
            </a:r>
          </a:p>
        </p:txBody>
      </p:sp>
      <p:sp>
        <p:nvSpPr>
          <p:cNvPr id="3" name="Marcador de contenido 2">
            <a:extLst>
              <a:ext uri="{FF2B5EF4-FFF2-40B4-BE49-F238E27FC236}">
                <a16:creationId xmlns:a16="http://schemas.microsoft.com/office/drawing/2014/main" id="{DD7AF90A-4E0C-A16F-E7FF-E0E989E5E3BD}"/>
              </a:ext>
            </a:extLst>
          </p:cNvPr>
          <p:cNvSpPr>
            <a:spLocks noGrp="1"/>
          </p:cNvSpPr>
          <p:nvPr>
            <p:ph idx="1"/>
          </p:nvPr>
        </p:nvSpPr>
        <p:spPr/>
        <p:txBody>
          <a:bodyPr>
            <a:normAutofit/>
          </a:bodyPr>
          <a:lstStyle/>
          <a:p>
            <a:pPr marL="0" indent="0">
              <a:buNone/>
            </a:pPr>
            <a:r>
              <a:rPr lang="es-MX" dirty="0" err="1"/>
              <a:t>Graph</a:t>
            </a:r>
            <a:r>
              <a:rPr lang="es-MX" dirty="0"/>
              <a:t> store</a:t>
            </a:r>
          </a:p>
          <a:p>
            <a:pPr marL="0" indent="0">
              <a:buNone/>
            </a:pPr>
            <a:r>
              <a:rPr lang="es-ES" dirty="0"/>
              <a:t>Los elementos de datos se almacenan como nodos, aristas y propiedades. Cualquier objeto, lugar o persona puede ser un nodo. Una arista define la relación entre los nodos. </a:t>
            </a:r>
          </a:p>
          <a:p>
            <a:pPr marL="0" indent="0">
              <a:buNone/>
            </a:pPr>
            <a:r>
              <a:rPr lang="es-ES" dirty="0"/>
              <a:t>Las bases de datos de grafos se utilizan para almacenar y administrar una red de conexiones entre elementos dentro del grafo. </a:t>
            </a:r>
          </a:p>
          <a:p>
            <a:pPr marL="0" indent="0">
              <a:buNone/>
            </a:pPr>
            <a:r>
              <a:rPr lang="es-ES" dirty="0"/>
              <a:t>Neo4j es un servicio de base de datos basado en gráficos basado en Java con una edición comunitaria de código abierto</a:t>
            </a:r>
            <a:endParaRPr lang="es-MX" dirty="0"/>
          </a:p>
        </p:txBody>
      </p:sp>
    </p:spTree>
    <p:extLst>
      <p:ext uri="{BB962C8B-B14F-4D97-AF65-F5344CB8AC3E}">
        <p14:creationId xmlns:p14="http://schemas.microsoft.com/office/powerpoint/2010/main" val="3439596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1B2E99-8BA2-C644-0FBB-94D169F2826B}"/>
              </a:ext>
            </a:extLst>
          </p:cNvPr>
          <p:cNvSpPr>
            <a:spLocks noGrp="1"/>
          </p:cNvSpPr>
          <p:nvPr>
            <p:ph type="title"/>
          </p:nvPr>
        </p:nvSpPr>
        <p:spPr>
          <a:xfrm>
            <a:off x="648929" y="629266"/>
            <a:ext cx="3505495" cy="1622321"/>
          </a:xfrm>
        </p:spPr>
        <p:txBody>
          <a:bodyPr>
            <a:normAutofit/>
          </a:bodyPr>
          <a:lstStyle/>
          <a:p>
            <a:r>
              <a:rPr lang="es-MX" sz="3700"/>
              <a:t>Comenzamos con el teorema CAP</a:t>
            </a:r>
          </a:p>
        </p:txBody>
      </p:sp>
      <p:sp>
        <p:nvSpPr>
          <p:cNvPr id="3" name="Marcador de contenido 2">
            <a:extLst>
              <a:ext uri="{FF2B5EF4-FFF2-40B4-BE49-F238E27FC236}">
                <a16:creationId xmlns:a16="http://schemas.microsoft.com/office/drawing/2014/main" id="{6FC224BF-E8C8-E850-0F44-7DC5D9B8BDDB}"/>
              </a:ext>
            </a:extLst>
          </p:cNvPr>
          <p:cNvSpPr>
            <a:spLocks noGrp="1"/>
          </p:cNvSpPr>
          <p:nvPr>
            <p:ph idx="1"/>
          </p:nvPr>
        </p:nvSpPr>
        <p:spPr>
          <a:xfrm>
            <a:off x="648931" y="2438400"/>
            <a:ext cx="3505494" cy="3785419"/>
          </a:xfrm>
        </p:spPr>
        <p:txBody>
          <a:bodyPr>
            <a:normAutofit/>
          </a:bodyPr>
          <a:lstStyle/>
          <a:p>
            <a:r>
              <a:rPr lang="es-MX" dirty="0"/>
              <a:t>Tres características de los sistemas distribuidos:</a:t>
            </a:r>
          </a:p>
          <a:p>
            <a:r>
              <a:rPr lang="es-MX" dirty="0"/>
              <a:t>Consistencia</a:t>
            </a:r>
          </a:p>
          <a:p>
            <a:r>
              <a:rPr lang="es-MX" dirty="0"/>
              <a:t>Disponibilidad</a:t>
            </a:r>
          </a:p>
          <a:p>
            <a:r>
              <a:rPr lang="es-MX" dirty="0"/>
              <a:t>Tolerancia a las particiones</a:t>
            </a:r>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6EAE360B-D89C-F851-B181-63E35A97A4E3}"/>
              </a:ext>
            </a:extLst>
          </p:cNvPr>
          <p:cNvPicPr>
            <a:picLocks noChangeAspect="1"/>
          </p:cNvPicPr>
          <p:nvPr/>
        </p:nvPicPr>
        <p:blipFill>
          <a:blip r:embed="rId2"/>
          <a:stretch>
            <a:fillRect/>
          </a:stretch>
        </p:blipFill>
        <p:spPr>
          <a:xfrm>
            <a:off x="5405862" y="993568"/>
            <a:ext cx="6019331" cy="4867617"/>
          </a:xfrm>
          <a:prstGeom prst="rect">
            <a:avLst/>
          </a:prstGeom>
          <a:effectLst/>
        </p:spPr>
      </p:pic>
    </p:spTree>
    <p:extLst>
      <p:ext uri="{BB962C8B-B14F-4D97-AF65-F5344CB8AC3E}">
        <p14:creationId xmlns:p14="http://schemas.microsoft.com/office/powerpoint/2010/main" val="3971695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A75BC7-DB87-8799-E162-4EBBAB7E0135}"/>
              </a:ext>
            </a:extLst>
          </p:cNvPr>
          <p:cNvSpPr>
            <a:spLocks noGrp="1"/>
          </p:cNvSpPr>
          <p:nvPr>
            <p:ph type="title"/>
          </p:nvPr>
        </p:nvSpPr>
        <p:spPr/>
        <p:txBody>
          <a:bodyPr/>
          <a:lstStyle/>
          <a:p>
            <a:r>
              <a:rPr lang="es-MX" dirty="0"/>
              <a:t>Consistencia</a:t>
            </a:r>
          </a:p>
        </p:txBody>
      </p:sp>
      <p:sp>
        <p:nvSpPr>
          <p:cNvPr id="3" name="Marcador de contenido 2">
            <a:extLst>
              <a:ext uri="{FF2B5EF4-FFF2-40B4-BE49-F238E27FC236}">
                <a16:creationId xmlns:a16="http://schemas.microsoft.com/office/drawing/2014/main" id="{ECDE6C14-D61B-548B-58ED-388092F0FFF6}"/>
              </a:ext>
            </a:extLst>
          </p:cNvPr>
          <p:cNvSpPr>
            <a:spLocks noGrp="1"/>
          </p:cNvSpPr>
          <p:nvPr>
            <p:ph idx="1"/>
          </p:nvPr>
        </p:nvSpPr>
        <p:spPr/>
        <p:txBody>
          <a:bodyPr/>
          <a:lstStyle/>
          <a:p>
            <a:r>
              <a:rPr lang="es-ES" dirty="0"/>
              <a:t>Consistencia significa que todos los clientes ven los mismos datos al mismo tiempo, sin importar a qué nodo se conecten. Para que esto suceda, cada vez que se escriben datos en un nodo, deben reenviarse o replicarse instantáneamente a todos los demás nodos del sistema antes de que la escritura se considere "correcta".</a:t>
            </a:r>
            <a:endParaRPr lang="es-MX" dirty="0"/>
          </a:p>
        </p:txBody>
      </p:sp>
    </p:spTree>
    <p:extLst>
      <p:ext uri="{BB962C8B-B14F-4D97-AF65-F5344CB8AC3E}">
        <p14:creationId xmlns:p14="http://schemas.microsoft.com/office/powerpoint/2010/main" val="3979679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55B35E-5679-CA11-CC81-85DBCEAA874D}"/>
              </a:ext>
            </a:extLst>
          </p:cNvPr>
          <p:cNvSpPr>
            <a:spLocks noGrp="1"/>
          </p:cNvSpPr>
          <p:nvPr>
            <p:ph type="title"/>
          </p:nvPr>
        </p:nvSpPr>
        <p:spPr/>
        <p:txBody>
          <a:bodyPr/>
          <a:lstStyle/>
          <a:p>
            <a:r>
              <a:rPr lang="es-MX" dirty="0"/>
              <a:t>Disponibilidad</a:t>
            </a:r>
          </a:p>
        </p:txBody>
      </p:sp>
      <p:sp>
        <p:nvSpPr>
          <p:cNvPr id="3" name="Marcador de contenido 2">
            <a:extLst>
              <a:ext uri="{FF2B5EF4-FFF2-40B4-BE49-F238E27FC236}">
                <a16:creationId xmlns:a16="http://schemas.microsoft.com/office/drawing/2014/main" id="{3197A51F-6254-D576-DBEB-F40A21E3D6CD}"/>
              </a:ext>
            </a:extLst>
          </p:cNvPr>
          <p:cNvSpPr>
            <a:spLocks noGrp="1"/>
          </p:cNvSpPr>
          <p:nvPr>
            <p:ph idx="1"/>
          </p:nvPr>
        </p:nvSpPr>
        <p:spPr/>
        <p:txBody>
          <a:bodyPr/>
          <a:lstStyle/>
          <a:p>
            <a:r>
              <a:rPr lang="es-ES" dirty="0"/>
              <a:t>Disponibilidad significa que cualquier cliente que realice una solicitud de datos obtiene una respuesta, incluso si uno o más nodos están caídos. Otra forma de decir esto: todos los nodos de trabajo en el sistema distribuido devuelven una respuesta válida para cualquier solicitud, sin excepción.</a:t>
            </a:r>
            <a:endParaRPr lang="es-MX" dirty="0"/>
          </a:p>
        </p:txBody>
      </p:sp>
    </p:spTree>
    <p:extLst>
      <p:ext uri="{BB962C8B-B14F-4D97-AF65-F5344CB8AC3E}">
        <p14:creationId xmlns:p14="http://schemas.microsoft.com/office/powerpoint/2010/main" val="1726179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813C5F-F48A-8950-858E-E8D963687310}"/>
              </a:ext>
            </a:extLst>
          </p:cNvPr>
          <p:cNvSpPr>
            <a:spLocks noGrp="1"/>
          </p:cNvSpPr>
          <p:nvPr>
            <p:ph type="title"/>
          </p:nvPr>
        </p:nvSpPr>
        <p:spPr/>
        <p:txBody>
          <a:bodyPr/>
          <a:lstStyle/>
          <a:p>
            <a:r>
              <a:rPr lang="es-MX" dirty="0"/>
              <a:t>Tolerancia a particiones</a:t>
            </a:r>
          </a:p>
        </p:txBody>
      </p:sp>
      <p:sp>
        <p:nvSpPr>
          <p:cNvPr id="3" name="Marcador de contenido 2">
            <a:extLst>
              <a:ext uri="{FF2B5EF4-FFF2-40B4-BE49-F238E27FC236}">
                <a16:creationId xmlns:a16="http://schemas.microsoft.com/office/drawing/2014/main" id="{A1C753E2-3DDA-AB75-0B19-092D54A778AD}"/>
              </a:ext>
            </a:extLst>
          </p:cNvPr>
          <p:cNvSpPr>
            <a:spLocks noGrp="1"/>
          </p:cNvSpPr>
          <p:nvPr>
            <p:ph idx="1"/>
          </p:nvPr>
        </p:nvSpPr>
        <p:spPr/>
        <p:txBody>
          <a:bodyPr/>
          <a:lstStyle/>
          <a:p>
            <a:r>
              <a:rPr lang="es-ES" dirty="0"/>
              <a:t>Una partición es una interrupción de las comunicaciones dentro de un sistema distribuido: una conexión perdida o demorada temporalmente entre dos nodos. La tolerancia a la partición significa que el clúster debe continuar funcionando a pesar de cualquier cantidad de fallas en la comunicación entre los nodos del sistema.</a:t>
            </a:r>
            <a:endParaRPr lang="es-MX" dirty="0"/>
          </a:p>
        </p:txBody>
      </p:sp>
    </p:spTree>
    <p:extLst>
      <p:ext uri="{BB962C8B-B14F-4D97-AF65-F5344CB8AC3E}">
        <p14:creationId xmlns:p14="http://schemas.microsoft.com/office/powerpoint/2010/main" val="1122477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FC89AB-4678-F40D-BF16-ECFD1814F17E}"/>
              </a:ext>
            </a:extLst>
          </p:cNvPr>
          <p:cNvSpPr>
            <a:spLocks noGrp="1"/>
          </p:cNvSpPr>
          <p:nvPr>
            <p:ph type="title"/>
          </p:nvPr>
        </p:nvSpPr>
        <p:spPr/>
        <p:txBody>
          <a:bodyPr/>
          <a:lstStyle/>
          <a:p>
            <a:r>
              <a:rPr lang="es-MX" dirty="0"/>
              <a:t>CAP y las bases de datos NOSQL</a:t>
            </a:r>
          </a:p>
        </p:txBody>
      </p:sp>
      <p:sp>
        <p:nvSpPr>
          <p:cNvPr id="3" name="Marcador de contenido 2">
            <a:extLst>
              <a:ext uri="{FF2B5EF4-FFF2-40B4-BE49-F238E27FC236}">
                <a16:creationId xmlns:a16="http://schemas.microsoft.com/office/drawing/2014/main" id="{637B09F9-5B31-7901-9D64-93C42A31989B}"/>
              </a:ext>
            </a:extLst>
          </p:cNvPr>
          <p:cNvSpPr>
            <a:spLocks noGrp="1"/>
          </p:cNvSpPr>
          <p:nvPr>
            <p:ph idx="1"/>
          </p:nvPr>
        </p:nvSpPr>
        <p:spPr/>
        <p:txBody>
          <a:bodyPr/>
          <a:lstStyle/>
          <a:p>
            <a:r>
              <a:rPr lang="es-ES" dirty="0"/>
              <a:t>Las bases de datos NoSQL (no relacionales) son ideales para aplicaciones de red distribuidas. A diferencia de sus contrapartes SQL (relacionales) escalables verticalmente, las bases de datos NoSQL son escalables horizontalmente y están distribuidas por diseño; pueden escalar rápidamente a través de una red en crecimiento que consta de múltiples nodos interconectados.</a:t>
            </a:r>
          </a:p>
          <a:p>
            <a:r>
              <a:rPr lang="es-ES" dirty="0"/>
              <a:t>Bases de datos CP</a:t>
            </a:r>
          </a:p>
          <a:p>
            <a:r>
              <a:rPr lang="es-ES" dirty="0"/>
              <a:t>Bases de datos AP</a:t>
            </a:r>
          </a:p>
          <a:p>
            <a:r>
              <a:rPr lang="es-ES" dirty="0"/>
              <a:t>Bases de datos CA</a:t>
            </a:r>
            <a:endParaRPr lang="es-MX" dirty="0"/>
          </a:p>
        </p:txBody>
      </p:sp>
    </p:spTree>
    <p:extLst>
      <p:ext uri="{BB962C8B-B14F-4D97-AF65-F5344CB8AC3E}">
        <p14:creationId xmlns:p14="http://schemas.microsoft.com/office/powerpoint/2010/main" val="439971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274C3-F5C4-E5F3-4F63-0BF0213B35B9}"/>
              </a:ext>
            </a:extLst>
          </p:cNvPr>
          <p:cNvSpPr>
            <a:spLocks noGrp="1"/>
          </p:cNvSpPr>
          <p:nvPr>
            <p:ph type="title"/>
          </p:nvPr>
        </p:nvSpPr>
        <p:spPr/>
        <p:txBody>
          <a:bodyPr/>
          <a:lstStyle/>
          <a:p>
            <a:r>
              <a:rPr lang="es-MX" dirty="0"/>
              <a:t>CP</a:t>
            </a:r>
          </a:p>
        </p:txBody>
      </p:sp>
      <p:sp>
        <p:nvSpPr>
          <p:cNvPr id="3" name="Marcador de contenido 2">
            <a:extLst>
              <a:ext uri="{FF2B5EF4-FFF2-40B4-BE49-F238E27FC236}">
                <a16:creationId xmlns:a16="http://schemas.microsoft.com/office/drawing/2014/main" id="{988EB683-F11C-2103-1D83-7304C7FB850E}"/>
              </a:ext>
            </a:extLst>
          </p:cNvPr>
          <p:cNvSpPr>
            <a:spLocks noGrp="1"/>
          </p:cNvSpPr>
          <p:nvPr>
            <p:ph idx="1"/>
          </p:nvPr>
        </p:nvSpPr>
        <p:spPr/>
        <p:txBody>
          <a:bodyPr>
            <a:normAutofit/>
          </a:bodyPr>
          <a:lstStyle/>
          <a:p>
            <a:r>
              <a:rPr lang="es-ES" dirty="0"/>
              <a:t>Base de datos de CP: una base de datos de CP ofrece consistencia y tolerancia a la partición a expensas de la disponibilidad. </a:t>
            </a:r>
          </a:p>
          <a:p>
            <a:r>
              <a:rPr lang="es-ES" dirty="0"/>
              <a:t>Cuando se produce una partición entre dos nodos cualesquiera, el sistema tiene que cerrar el nodo no disponibl2 (es decir, hacer que no esté disponible) hasta que se resuelva la partición.</a:t>
            </a:r>
          </a:p>
        </p:txBody>
      </p:sp>
    </p:spTree>
    <p:extLst>
      <p:ext uri="{BB962C8B-B14F-4D97-AF65-F5344CB8AC3E}">
        <p14:creationId xmlns:p14="http://schemas.microsoft.com/office/powerpoint/2010/main" val="2435982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274C3-F5C4-E5F3-4F63-0BF0213B35B9}"/>
              </a:ext>
            </a:extLst>
          </p:cNvPr>
          <p:cNvSpPr>
            <a:spLocks noGrp="1"/>
          </p:cNvSpPr>
          <p:nvPr>
            <p:ph type="title"/>
          </p:nvPr>
        </p:nvSpPr>
        <p:spPr/>
        <p:txBody>
          <a:bodyPr/>
          <a:lstStyle/>
          <a:p>
            <a:r>
              <a:rPr lang="es-MX" dirty="0"/>
              <a:t>AP</a:t>
            </a:r>
          </a:p>
        </p:txBody>
      </p:sp>
      <p:sp>
        <p:nvSpPr>
          <p:cNvPr id="3" name="Marcador de contenido 2">
            <a:extLst>
              <a:ext uri="{FF2B5EF4-FFF2-40B4-BE49-F238E27FC236}">
                <a16:creationId xmlns:a16="http://schemas.microsoft.com/office/drawing/2014/main" id="{988EB683-F11C-2103-1D83-7304C7FB850E}"/>
              </a:ext>
            </a:extLst>
          </p:cNvPr>
          <p:cNvSpPr>
            <a:spLocks noGrp="1"/>
          </p:cNvSpPr>
          <p:nvPr>
            <p:ph idx="1"/>
          </p:nvPr>
        </p:nvSpPr>
        <p:spPr/>
        <p:txBody>
          <a:bodyPr>
            <a:normAutofit/>
          </a:bodyPr>
          <a:lstStyle/>
          <a:p>
            <a:r>
              <a:rPr lang="es-ES" dirty="0"/>
              <a:t>Base de datos AP: una base de datos AP ofrece disponibilidad y tolerancia a la partición a expensas de la consistencia. </a:t>
            </a:r>
          </a:p>
          <a:p>
            <a:r>
              <a:rPr lang="es-ES" dirty="0"/>
              <a:t>Cuando se produce una partición, todos los nodos permanecen disponibles, pero los que están en el extremo equivocado de una partición pueden devolver una versión de datos más antigua que otros. (Cuando se resuelve la partición, las bases de datos de AP normalmente vuelven a sincronizar los nodos para reparar todas las inconsistencias en el sistema).</a:t>
            </a:r>
            <a:endParaRPr lang="es-MX" dirty="0"/>
          </a:p>
        </p:txBody>
      </p:sp>
    </p:spTree>
    <p:extLst>
      <p:ext uri="{BB962C8B-B14F-4D97-AF65-F5344CB8AC3E}">
        <p14:creationId xmlns:p14="http://schemas.microsoft.com/office/powerpoint/2010/main" val="2987132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0DFA66-1FD8-681B-4476-20C5E68938FC}"/>
              </a:ext>
            </a:extLst>
          </p:cNvPr>
          <p:cNvSpPr>
            <a:spLocks noGrp="1"/>
          </p:cNvSpPr>
          <p:nvPr>
            <p:ph type="title"/>
          </p:nvPr>
        </p:nvSpPr>
        <p:spPr/>
        <p:txBody>
          <a:bodyPr/>
          <a:lstStyle/>
          <a:p>
            <a:r>
              <a:rPr lang="es-MX" dirty="0"/>
              <a:t>CA</a:t>
            </a:r>
          </a:p>
        </p:txBody>
      </p:sp>
      <p:sp>
        <p:nvSpPr>
          <p:cNvPr id="3" name="Marcador de contenido 2">
            <a:extLst>
              <a:ext uri="{FF2B5EF4-FFF2-40B4-BE49-F238E27FC236}">
                <a16:creationId xmlns:a16="http://schemas.microsoft.com/office/drawing/2014/main" id="{8BCA9CB8-CD6A-BE4A-8C74-6C54449C37CD}"/>
              </a:ext>
            </a:extLst>
          </p:cNvPr>
          <p:cNvSpPr>
            <a:spLocks noGrp="1"/>
          </p:cNvSpPr>
          <p:nvPr>
            <p:ph idx="1"/>
          </p:nvPr>
        </p:nvSpPr>
        <p:spPr/>
        <p:txBody>
          <a:bodyPr/>
          <a:lstStyle/>
          <a:p>
            <a:r>
              <a:rPr lang="es-ES" dirty="0"/>
              <a:t>Base de datos de CA: una base de datos de CA ofrece consistencia y disponibilidad en todos los nodos. </a:t>
            </a:r>
          </a:p>
          <a:p>
            <a:r>
              <a:rPr lang="es-ES" dirty="0"/>
              <a:t>Sin embargo, no puede hacer esto si hay una partición entre dos nodos en el sistema y, por lo tanto, no puede ofrecer tolerancia a fallas.</a:t>
            </a:r>
            <a:endParaRPr lang="es-MX" dirty="0"/>
          </a:p>
        </p:txBody>
      </p:sp>
    </p:spTree>
    <p:extLst>
      <p:ext uri="{BB962C8B-B14F-4D97-AF65-F5344CB8AC3E}">
        <p14:creationId xmlns:p14="http://schemas.microsoft.com/office/powerpoint/2010/main" val="69542516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17450</TotalTime>
  <Words>1050</Words>
  <Application>Microsoft Office PowerPoint</Application>
  <PresentationFormat>Panorámica</PresentationFormat>
  <Paragraphs>56</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Calibri Light</vt:lpstr>
      <vt:lpstr>Tema de Office</vt:lpstr>
      <vt:lpstr>Tema 2 Modelos NOSQL</vt:lpstr>
      <vt:lpstr>¿Qué es una base de datos NOSQL?</vt:lpstr>
      <vt:lpstr>Tipos de bases de datos NOSQL</vt:lpstr>
      <vt:lpstr>Tipos de bases de datos NOSQL</vt:lpstr>
      <vt:lpstr>Tipos de bases de datos NOSQL</vt:lpstr>
      <vt:lpstr>Tipos de bases de datos NOSQL</vt:lpstr>
      <vt:lpstr>Modelo de datos de Cassandra</vt:lpstr>
      <vt:lpstr>Tipos de bases de datos NOSQL</vt:lpstr>
      <vt:lpstr>Comenzamos con el teorema CAP</vt:lpstr>
      <vt:lpstr>Consistencia</vt:lpstr>
      <vt:lpstr>Disponibilidad</vt:lpstr>
      <vt:lpstr>Tolerancia a particiones</vt:lpstr>
      <vt:lpstr>CAP y las bases de datos NOSQL</vt:lpstr>
      <vt:lpstr>CP</vt:lpstr>
      <vt:lpstr>AP</vt:lpstr>
      <vt:lpstr>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Herramientas de Visualización Luis Fernando Franco Jiménez</dc:title>
  <dc:creator>Franco Jimenez Luis Fernando</dc:creator>
  <cp:lastModifiedBy>Jorge Ferro</cp:lastModifiedBy>
  <cp:revision>48</cp:revision>
  <dcterms:created xsi:type="dcterms:W3CDTF">2020-03-27T18:17:54Z</dcterms:created>
  <dcterms:modified xsi:type="dcterms:W3CDTF">2024-04-12T23:54:16Z</dcterms:modified>
</cp:coreProperties>
</file>